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acknowledge source material and technical references used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15968" y="-960120"/>
            <a:ext cx="3657600" cy="3657600"/>
          </a:xfrm>
          <a:prstGeom prst="arc">
            <a:avLst/>
          </a:prstGeom>
          <a:solidFill>
            <a:srgbClr val="4F8FCF">
              <a:alpha val="2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078992" y="5230368"/>
            <a:ext cx="2606040" cy="2606040"/>
          </a:xfrm>
          <a:prstGeom prst="arc">
            <a:avLst/>
          </a:prstGeom>
          <a:solidFill>
            <a:srgbClr val="F2B366">
              <a:alpha val="23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74980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JS SLIDE BUILDER V10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94944" y="1298448"/>
            <a:ext cx="53492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Full Feature Demo</a:t>
            </a:r>
            <a:endParaRPr lang="en-US" sz="4700" dirty="0"/>
          </a:p>
        </p:txBody>
      </p:sp>
      <p:sp>
        <p:nvSpPr>
          <p:cNvPr id="8" name="Shape 6"/>
          <p:cNvSpPr/>
          <p:nvPr/>
        </p:nvSpPr>
        <p:spPr>
          <a:xfrm>
            <a:off x="713232" y="3054096"/>
            <a:ext cx="86868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9184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FFFFF">
                    <a:alpha val="94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Showcasing every slide layout: titles, content, metrics, charts, timelines, tables, quotes, and more.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61447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>
                    <a:alpha val="82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User  •  2026-05-14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1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Content &amp; Bullet Layouts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slides with text, bullets, and key messages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CONTENT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Standard Bullet Slide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10874959" cy="4407408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9264" y="1719072"/>
            <a:ext cx="640080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1975104"/>
            <a:ext cx="10106863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default layout renders a clean card with an eyebrow, title, and bullet list.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1161288" y="2916936"/>
            <a:ext cx="9869119" cy="267004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Supports up to 6 bullets per card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Auto-sizes font to fit content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Theme colors applied to accent bar and typography</a:t>
            </a:r>
            <a:endParaRPr lang="en-US" sz="1440" dirty="0"/>
          </a:p>
          <a:p>
            <a:pPr indent="0" marL="0">
              <a:buNone/>
            </a:pPr>
            <a:r>
              <a:rPr lang="en-US" sz="14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Speaker notes stored separately in Markdown</a:t>
            </a:r>
            <a:endParaRPr lang="en-US" sz="14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KEY_MESSAGE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Message Layout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3886200" cy="4370832"/>
          </a:xfrm>
          <a:prstGeom prst="roundRect">
            <a:avLst>
              <a:gd name="adj" fmla="val 3765"/>
            </a:avLst>
          </a:prstGeom>
          <a:solidFill>
            <a:srgbClr val="1F4E79"/>
          </a:solidFill>
          <a:ln w="8890">
            <a:solidFill>
              <a:srgbClr val="1F4E79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42416" y="1911096"/>
            <a:ext cx="3063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bold left-panel statement drives the point home.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1060704" y="4315968"/>
            <a:ext cx="749808" cy="54864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1700784"/>
            <a:ext cx="6217920" cy="342900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High-contrast primary color card on the left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Supporting evidence bullets on the right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Ideal for executive summaries and punchy insights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NUMBERED_INSIGHTS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Numbered Insights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10874959" cy="4407408"/>
          </a:xfrm>
          <a:prstGeom prst="roundRect">
            <a:avLst>
              <a:gd name="adj" fmla="val 332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05840" y="181965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192938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59152" y="178308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tokens drive every color and font decision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05840" y="255117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645920" y="266090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59152" y="251460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Brand guidelines encoded in theme.json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328269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339242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59152" y="324612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 JSON separates data from presentation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05840" y="401421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645920" y="412394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59152" y="397764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planner assigns layout variants automatically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05840" y="474573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0" y="4855464"/>
            <a:ext cx="530352" cy="0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59152" y="4709160"/>
            <a:ext cx="8887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report flags mismatches and missing data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CARDS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Card Grid Layout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bullet becomes its own card</a:t>
            </a:r>
            <a:endParaRPr lang="en-US" sz="1530" dirty="0"/>
          </a:p>
        </p:txBody>
      </p:sp>
      <p:sp>
        <p:nvSpPr>
          <p:cNvPr id="16" name="Shape 14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 to 4 cards per row</a:t>
            </a:r>
            <a:endParaRPr lang="en-US" sz="1530" dirty="0"/>
          </a:p>
        </p:txBody>
      </p:sp>
      <p:sp>
        <p:nvSpPr>
          <p:cNvPr id="21" name="Shape 19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Icon badge support per card</a:t>
            </a:r>
            <a:endParaRPr lang="en-US" sz="1530" dirty="0"/>
          </a:p>
        </p:txBody>
      </p:sp>
      <p:sp>
        <p:nvSpPr>
          <p:cNvPr id="26" name="Shape 24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 equal-width distribution</a:t>
            </a:r>
            <a:endParaRPr lang="en-US" sz="15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2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Two-Column &amp; Comparison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Side-by-side layouts for structured comparison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TWO_COLUMN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Two-Column Layout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44752"/>
            <a:ext cx="5230368" cy="4352544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9264" y="1792224"/>
            <a:ext cx="566928" cy="50292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2011680"/>
            <a:ext cx="4608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Advantages</a:t>
            </a:r>
            <a:endParaRPr lang="en-US" sz="1440" dirty="0"/>
          </a:p>
        </p:txBody>
      </p:sp>
      <p:sp>
        <p:nvSpPr>
          <p:cNvPr id="14" name="Text 12"/>
          <p:cNvSpPr/>
          <p:nvPr/>
        </p:nvSpPr>
        <p:spPr>
          <a:xfrm>
            <a:off x="1051560" y="2578608"/>
            <a:ext cx="4443984" cy="27889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Pure JSON input — no GUI needed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Version-controlled presentation source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CI/CD automated generation</a:t>
            </a:r>
            <a:endParaRPr lang="en-US" sz="1310" dirty="0"/>
          </a:p>
        </p:txBody>
      </p:sp>
      <p:sp>
        <p:nvSpPr>
          <p:cNvPr id="15" name="Shape 13"/>
          <p:cNvSpPr/>
          <p:nvPr/>
        </p:nvSpPr>
        <p:spPr>
          <a:xfrm>
            <a:off x="6302959" y="1444752"/>
            <a:ext cx="5230368" cy="4352544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13855" y="1792224"/>
            <a:ext cx="566928" cy="50292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13855" y="2011680"/>
            <a:ext cx="4608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40" b="1" dirty="0">
                <a:solidFill>
                  <a:srgbClr val="4F8FC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Cases</a:t>
            </a:r>
            <a:endParaRPr lang="en-US" sz="1440" dirty="0"/>
          </a:p>
        </p:txBody>
      </p:sp>
      <p:sp>
        <p:nvSpPr>
          <p:cNvPr id="18" name="Text 16"/>
          <p:cNvSpPr/>
          <p:nvPr/>
        </p:nvSpPr>
        <p:spPr>
          <a:xfrm>
            <a:off x="6696151" y="2578608"/>
            <a:ext cx="4443984" cy="27889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Sales decks from CRM data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Compliance reports from audit logs</a:t>
            </a:r>
            <a:endParaRPr lang="en-US" sz="1310" dirty="0"/>
          </a:p>
          <a:p>
            <a:pPr indent="0" marL="0">
              <a:buNone/>
            </a:pPr>
            <a:r>
              <a:rPr lang="en-US" sz="13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Training materials from LMS exports</a:t>
            </a:r>
            <a:endParaRPr lang="en-US" sz="13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COMPARISON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Headless Builder vs Manual Design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63040"/>
            <a:ext cx="5248656" cy="431596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" y="1463040"/>
            <a:ext cx="5248656" cy="164592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1993392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Headless Builder</a:t>
            </a:r>
            <a:endParaRPr lang="en-US" sz="1330" dirty="0"/>
          </a:p>
        </p:txBody>
      </p:sp>
      <p:sp>
        <p:nvSpPr>
          <p:cNvPr id="14" name="Shape 12"/>
          <p:cNvSpPr/>
          <p:nvPr/>
        </p:nvSpPr>
        <p:spPr>
          <a:xfrm>
            <a:off x="950976" y="2523744"/>
            <a:ext cx="4663440" cy="0"/>
          </a:xfrm>
          <a:prstGeom prst="line">
            <a:avLst/>
          </a:prstGeom>
          <a:noFill/>
          <a:ln w="10160">
            <a:solidFill>
              <a:srgbClr val="DDE6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2816352"/>
            <a:ext cx="4425696" cy="257860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Minutes to generate a 20-slide deck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Consistent brand compliance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Zero design software required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Fully automatable via CI/CD</a:t>
            </a:r>
            <a:endParaRPr lang="en-US" sz="1210" dirty="0"/>
          </a:p>
        </p:txBody>
      </p:sp>
      <p:sp>
        <p:nvSpPr>
          <p:cNvPr id="16" name="Shape 14"/>
          <p:cNvSpPr/>
          <p:nvPr/>
        </p:nvSpPr>
        <p:spPr>
          <a:xfrm>
            <a:off x="6318504" y="1463040"/>
            <a:ext cx="5248656" cy="4315968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18504" y="1463040"/>
            <a:ext cx="5248656" cy="164592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1993392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30" b="1" dirty="0">
                <a:solidFill>
                  <a:srgbClr val="4F8FC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Manual Design</a:t>
            </a:r>
            <a:endParaRPr lang="en-US" sz="1330" dirty="0"/>
          </a:p>
        </p:txBody>
      </p:sp>
      <p:sp>
        <p:nvSpPr>
          <p:cNvPr id="19" name="Shape 17"/>
          <p:cNvSpPr/>
          <p:nvPr/>
        </p:nvSpPr>
        <p:spPr>
          <a:xfrm>
            <a:off x="6611112" y="2523744"/>
            <a:ext cx="4663440" cy="0"/>
          </a:xfrm>
          <a:prstGeom prst="line">
            <a:avLst/>
          </a:prstGeom>
          <a:noFill/>
          <a:ln w="10160">
            <a:solidFill>
              <a:srgbClr val="DDE6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9984" y="2816352"/>
            <a:ext cx="4425696" cy="2578608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Hours of manual slide work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Brand drift between authors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Requires PowerPoint or Keynote</a:t>
            </a:r>
            <a:endParaRPr lang="en-US" sz="1210" dirty="0"/>
          </a:p>
          <a:p>
            <a:pPr indent="0" marL="0">
              <a:buNone/>
            </a:pPr>
            <a:r>
              <a:rPr lang="en-US" sz="12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Hard to automate at scale</a:t>
            </a:r>
            <a:endParaRPr lang="en-US" sz="1210" dirty="0"/>
          </a:p>
        </p:txBody>
      </p:sp>
      <p:sp>
        <p:nvSpPr>
          <p:cNvPr id="21" name="Shape 19"/>
          <p:cNvSpPr/>
          <p:nvPr/>
        </p:nvSpPr>
        <p:spPr>
          <a:xfrm>
            <a:off x="5687568" y="3072384"/>
            <a:ext cx="749808" cy="749808"/>
          </a:xfrm>
          <a:prstGeom prst="ellipse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7568" y="3300984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3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Metrics &amp; Data Slides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Numbers, charts, and risk visualization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BIG_NUMBER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Performance Indicator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536192"/>
            <a:ext cx="3749040" cy="3977640"/>
          </a:xfrm>
          <a:prstGeom prst="roundRect">
            <a:avLst>
              <a:gd name="adj" fmla="val 3902"/>
            </a:avLst>
          </a:prstGeom>
          <a:solidFill>
            <a:srgbClr val="1F4E79"/>
          </a:solidFill>
          <a:ln w="8890">
            <a:solidFill>
              <a:srgbClr val="1F4E79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2103120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978408" y="30906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Accuracy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1682496"/>
            <a:ext cx="73152" cy="361188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1737360"/>
            <a:ext cx="585216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content accuracy vs manually authored decks in A/B testing.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230368" y="2880360"/>
            <a:ext cx="5577840" cy="219456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Tested across 500 decks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Measured by design-token compliance</a:t>
            </a:r>
            <a:endParaRPr lang="en-US" sz="1540" dirty="0"/>
          </a:p>
          <a:p>
            <a:pPr indent="0" marL="0">
              <a:buNone/>
            </a:pPr>
            <a:r>
              <a:rPr lang="en-US" sz="15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Brand guideline adherence scored</a:t>
            </a:r>
            <a:endParaRPr lang="en-US" sz="15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METRIC_GRID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at a Glance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59536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F4E7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15+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877824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Types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3434258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635426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4F8FC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&lt;2s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3653714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Time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6210148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11316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100%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429604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JSON-Driven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8986037" y="1463040"/>
            <a:ext cx="254729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87205" y="1719072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MIT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205493" y="2331720"/>
            <a:ext cx="210837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License</a:t>
            </a:r>
            <a:endParaRPr lang="en-US" sz="11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BAR_CHART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Slide Types Usage Distribution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81328"/>
            <a:ext cx="7360920" cy="4160520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161288" y="1984248"/>
            <a:ext cx="704088" cy="292608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88136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1088136" y="1728216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1975104" y="3986303"/>
            <a:ext cx="704088" cy="924025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01952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1901952" y="3730271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2788920" y="3524290"/>
            <a:ext cx="704088" cy="1386038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15768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2715768" y="3268258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3602736" y="3216282"/>
            <a:ext cx="704088" cy="1694046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29584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Two-Col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3529584" y="2960250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4416552" y="2754269"/>
            <a:ext cx="704088" cy="2156059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43400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4343400" y="2498237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5230368" y="3755296"/>
            <a:ext cx="704088" cy="1155032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57216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Chart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5157216" y="3499264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6044184" y="4140307"/>
            <a:ext cx="704088" cy="770021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71032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5971032" y="3884275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6858000" y="4294311"/>
            <a:ext cx="704088" cy="616017"/>
          </a:xfrm>
          <a:prstGeom prst="rect">
            <a:avLst/>
          </a:prstGeom>
          <a:solidFill>
            <a:srgbClr val="4F8FC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84848" y="513892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6784848" y="4038279"/>
            <a:ext cx="85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8366760" y="1481328"/>
            <a:ext cx="3154680" cy="4160520"/>
          </a:xfrm>
          <a:prstGeom prst="roundRect">
            <a:avLst>
              <a:gd name="adj" fmla="val 4638"/>
            </a:avLst>
          </a:prstGeom>
          <a:solidFill>
            <a:srgbClr val="EEF3F8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659368" y="1801368"/>
            <a:ext cx="256946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64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 of layout types across a sample of 200 auto-generated decks.</a:t>
            </a:r>
            <a:endParaRPr lang="en-US" sz="1640" dirty="0"/>
          </a:p>
        </p:txBody>
      </p:sp>
      <p:sp>
        <p:nvSpPr>
          <p:cNvPr id="38" name="Text 36"/>
          <p:cNvSpPr/>
          <p:nvPr/>
        </p:nvSpPr>
        <p:spPr>
          <a:xfrm>
            <a:off x="8732520" y="2898648"/>
            <a:ext cx="2468880" cy="2331720"/>
          </a:xfrm>
          <a:prstGeom prst="rect">
            <a:avLst/>
          </a:prstGeom>
          <a:noFill/>
          <a:ln/>
        </p:spPr>
        <p:txBody>
          <a:bodyPr wrap="square" lIns="445" tIns="445" rIns="445" bIns="445" rtlCol="0" anchor="ctr">
            <a:normAutofit/>
          </a:bodyPr>
          <a:lstStyle/>
          <a:p>
            <a:pPr indent="0" marL="0">
              <a:buNone/>
            </a:pPr>
            <a:r>
              <a:rPr lang="en-US" sz="11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Content slides are most common</a:t>
            </a:r>
            <a:endParaRPr lang="en-US" sz="1180" dirty="0"/>
          </a:p>
          <a:p>
            <a:pPr indent="0" marL="0">
              <a:buNone/>
            </a:pPr>
            <a:r>
              <a:rPr lang="en-US" sz="118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Metric and two-column layouts growing</a:t>
            </a:r>
            <a:endParaRPr lang="en-US" sz="11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LINE_CHART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Decks Generated Per Month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81328"/>
            <a:ext cx="10881360" cy="4187952"/>
          </a:xfrm>
          <a:prstGeom prst="roundRect">
            <a:avLst>
              <a:gd name="adj" fmla="val 3493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280160" y="1993392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0160" y="3008376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4023360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0160" y="5038344"/>
            <a:ext cx="9802368" cy="0"/>
          </a:xfrm>
          <a:prstGeom prst="line">
            <a:avLst/>
          </a:prstGeom>
          <a:noFill/>
          <a:ln w="6350">
            <a:solidFill>
              <a:srgbClr val="DDE6F0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6152" y="4480560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740" dirty="0"/>
          </a:p>
        </p:txBody>
      </p:sp>
      <p:sp>
        <p:nvSpPr>
          <p:cNvPr id="18" name="Shape 16"/>
          <p:cNvSpPr/>
          <p:nvPr/>
        </p:nvSpPr>
        <p:spPr>
          <a:xfrm>
            <a:off x="1280160" y="4544568"/>
            <a:ext cx="1633728" cy="-288036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49880" y="4192524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93848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Feb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2913888" y="4256532"/>
            <a:ext cx="1633728" cy="-370332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3608" y="3822192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7576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</a:t>
            </a:r>
            <a:endParaRPr lang="en-US" sz="740" dirty="0"/>
          </a:p>
        </p:txBody>
      </p:sp>
      <p:sp>
        <p:nvSpPr>
          <p:cNvPr id="24" name="Shape 22"/>
          <p:cNvSpPr/>
          <p:nvPr/>
        </p:nvSpPr>
        <p:spPr>
          <a:xfrm>
            <a:off x="4547616" y="3886200"/>
            <a:ext cx="1633728" cy="-288036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17336" y="3534156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61304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6181344" y="3598164"/>
            <a:ext cx="1633728" cy="-699516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51064" y="2834640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95032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May</a:t>
            </a:r>
            <a:endParaRPr lang="en-US" sz="740" dirty="0"/>
          </a:p>
        </p:txBody>
      </p:sp>
      <p:sp>
        <p:nvSpPr>
          <p:cNvPr id="30" name="Shape 28"/>
          <p:cNvSpPr/>
          <p:nvPr/>
        </p:nvSpPr>
        <p:spPr>
          <a:xfrm>
            <a:off x="7815072" y="2898648"/>
            <a:ext cx="1633728" cy="-370332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84792" y="2464308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28760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Jun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9448800" y="2528316"/>
            <a:ext cx="1633728" cy="-534924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018520" y="1929384"/>
            <a:ext cx="128016" cy="128016"/>
          </a:xfrm>
          <a:prstGeom prst="ellipse">
            <a:avLst/>
          </a:prstGeom>
          <a:solidFill>
            <a:srgbClr val="F2B366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62488" y="521208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Jul</a:t>
            </a:r>
            <a:endParaRPr lang="en-US" sz="7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4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Process, Timeline &amp; Tables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data and workflow visualization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PROCESS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Builder Works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2121408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591056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1741932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463040" y="1536192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719072" y="1719072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 content.json with slide data and metadata</a:t>
            </a:r>
            <a:endParaRPr lang="en-US" sz="1390" dirty="0"/>
          </a:p>
        </p:txBody>
      </p:sp>
      <p:sp>
        <p:nvSpPr>
          <p:cNvPr id="16" name="Shape 14"/>
          <p:cNvSpPr/>
          <p:nvPr/>
        </p:nvSpPr>
        <p:spPr>
          <a:xfrm>
            <a:off x="941832" y="2863596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2333244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484120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463040" y="2278380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719072" y="2461260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theme.json with brand colors, fonts, and design tokens</a:t>
            </a:r>
            <a:endParaRPr lang="en-US" sz="1390" dirty="0"/>
          </a:p>
        </p:txBody>
      </p:sp>
      <p:sp>
        <p:nvSpPr>
          <p:cNvPr id="21" name="Shape 19"/>
          <p:cNvSpPr/>
          <p:nvPr/>
        </p:nvSpPr>
        <p:spPr>
          <a:xfrm>
            <a:off x="941832" y="3605784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075432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22630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463040" y="3020568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719072" y="3203448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planner assigns layout variants and design decisions</a:t>
            </a:r>
            <a:endParaRPr lang="en-US" sz="1390" dirty="0"/>
          </a:p>
        </p:txBody>
      </p:sp>
      <p:sp>
        <p:nvSpPr>
          <p:cNvPr id="26" name="Shape 24"/>
          <p:cNvSpPr/>
          <p:nvPr/>
        </p:nvSpPr>
        <p:spPr>
          <a:xfrm>
            <a:off x="941832" y="4347972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3817620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3968496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463040" y="3762756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719072" y="3945636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Renderer builds PPTX slide-by-slide using pptxgenjs</a:t>
            </a:r>
            <a:endParaRPr lang="en-US" sz="1390" dirty="0"/>
          </a:p>
        </p:txBody>
      </p:sp>
      <p:sp>
        <p:nvSpPr>
          <p:cNvPr id="31" name="Shape 29"/>
          <p:cNvSpPr/>
          <p:nvPr/>
        </p:nvSpPr>
        <p:spPr>
          <a:xfrm>
            <a:off x="941832" y="5090160"/>
            <a:ext cx="0" cy="486156"/>
          </a:xfrm>
          <a:prstGeom prst="line">
            <a:avLst/>
          </a:prstGeom>
          <a:noFill/>
          <a:ln w="13970">
            <a:solidFill>
              <a:srgbClr val="C8D3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68" y="4559808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710684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63040" y="4504944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719072" y="4687824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report and speaker notes exported automatically</a:t>
            </a:r>
            <a:endParaRPr lang="en-US" sz="1390" dirty="0"/>
          </a:p>
        </p:txBody>
      </p:sp>
      <p:sp>
        <p:nvSpPr>
          <p:cNvPr id="36" name="Shape 34"/>
          <p:cNvSpPr/>
          <p:nvPr/>
        </p:nvSpPr>
        <p:spPr>
          <a:xfrm>
            <a:off x="658368" y="5301996"/>
            <a:ext cx="566928" cy="56692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5452872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63040" y="5247132"/>
            <a:ext cx="10070287" cy="650748"/>
          </a:xfrm>
          <a:prstGeom prst="roundRect">
            <a:avLst>
              <a:gd name="adj" fmla="val 22482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719072" y="5430012"/>
            <a:ext cx="9576511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9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LibreOffice renders preview PNGs and contact sheet PDF</a:t>
            </a:r>
            <a:endParaRPr lang="en-US" sz="139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TIMELINE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Roadmap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5528" y="2880360"/>
            <a:ext cx="10600639" cy="0"/>
          </a:xfrm>
          <a:prstGeom prst="line">
            <a:avLst/>
          </a:prstGeom>
          <a:noFill/>
          <a:ln w="25400">
            <a:solidFill>
              <a:srgbClr val="DD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5216" y="2670048"/>
            <a:ext cx="420624" cy="420624"/>
          </a:xfrm>
          <a:prstGeom prst="ellipse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" y="2679192"/>
            <a:ext cx="0" cy="-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" y="1572768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162306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 2026</a:t>
            </a:r>
            <a:endParaRPr lang="en-US" sz="740" dirty="0"/>
          </a:p>
        </p:txBody>
      </p:sp>
      <p:sp>
        <p:nvSpPr>
          <p:cNvPr id="16" name="Text 14"/>
          <p:cNvSpPr/>
          <p:nvPr/>
        </p:nvSpPr>
        <p:spPr>
          <a:xfrm>
            <a:off x="-164592" y="1938528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engine + basic layouts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3235376" y="2670048"/>
            <a:ext cx="420624" cy="420624"/>
          </a:xfrm>
          <a:prstGeom prst="ellipse">
            <a:avLst/>
          </a:prstGeom>
          <a:solidFill>
            <a:srgbClr val="4F8FC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5688" y="3081528"/>
            <a:ext cx="0" cy="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69616" y="3364992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42768" y="341528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 2026</a:t>
            </a:r>
            <a:endParaRPr lang="en-US" sz="740" dirty="0"/>
          </a:p>
        </p:txBody>
      </p:sp>
      <p:sp>
        <p:nvSpPr>
          <p:cNvPr id="21" name="Text 19"/>
          <p:cNvSpPr/>
          <p:nvPr/>
        </p:nvSpPr>
        <p:spPr>
          <a:xfrm>
            <a:off x="2485568" y="3730752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tokens + brand support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5885536" y="2670048"/>
            <a:ext cx="420624" cy="420624"/>
          </a:xfrm>
          <a:prstGeom prst="ellipse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95848" y="2679192"/>
            <a:ext cx="0" cy="-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19776" y="1572768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92928" y="162306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 2026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5135728" y="1938528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planner + quality reports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8535695" y="2670048"/>
            <a:ext cx="420624" cy="420624"/>
          </a:xfrm>
          <a:prstGeom prst="ellipse">
            <a:avLst/>
          </a:prstGeom>
          <a:solidFill>
            <a:srgbClr val="4F8FC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46007" y="3081528"/>
            <a:ext cx="0" cy="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69935" y="3364992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3087" y="341528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 2026</a:t>
            </a:r>
            <a:endParaRPr lang="en-US" sz="740" dirty="0"/>
          </a:p>
        </p:txBody>
      </p:sp>
      <p:sp>
        <p:nvSpPr>
          <p:cNvPr id="31" name="Text 29"/>
          <p:cNvSpPr/>
          <p:nvPr/>
        </p:nvSpPr>
        <p:spPr>
          <a:xfrm>
            <a:off x="7785887" y="3730752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rendering + contact sheet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11185855" y="2670048"/>
            <a:ext cx="420624" cy="420624"/>
          </a:xfrm>
          <a:prstGeom prst="ellipse">
            <a:avLst/>
          </a:prstGeom>
          <a:solidFill>
            <a:srgbClr val="1F4E7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396167" y="2679192"/>
            <a:ext cx="0" cy="-347472"/>
          </a:xfrm>
          <a:prstGeom prst="line">
            <a:avLst/>
          </a:prstGeom>
          <a:noFill/>
          <a:ln w="12700">
            <a:solidFill>
              <a:srgbClr val="DDE6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820095" y="1572768"/>
            <a:ext cx="1152144" cy="237744"/>
          </a:xfrm>
          <a:prstGeom prst="roundRect">
            <a:avLst>
              <a:gd name="adj" fmla="val 30769"/>
            </a:avLst>
          </a:prstGeom>
          <a:solidFill>
            <a:srgbClr val="EEF3F8"/>
          </a:solidFill>
          <a:ln w="12700">
            <a:solidFill>
              <a:srgbClr val="DDE6F0">
                <a:alpha val="8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93247" y="162306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 2027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10436047" y="1938528"/>
            <a:ext cx="19202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SaaS API + multi-tenant support</a:t>
            </a:r>
            <a:endParaRPr lang="en-US" sz="10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LAYOUT: TABLE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Supported Slide Types Reference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3377108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50260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Variant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6095848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69000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For</a:t>
            </a:r>
            <a:endParaRPr lang="en-US" sz="690" dirty="0"/>
          </a:p>
        </p:txBody>
      </p:sp>
      <p:sp>
        <p:nvSpPr>
          <p:cNvPr id="17" name="Shape 15"/>
          <p:cNvSpPr/>
          <p:nvPr/>
        </p:nvSpPr>
        <p:spPr>
          <a:xfrm>
            <a:off x="8814587" y="1444752"/>
            <a:ext cx="2718740" cy="394855"/>
          </a:xfrm>
          <a:prstGeom prst="rect">
            <a:avLst/>
          </a:prstGeom>
          <a:solidFill>
            <a:srgbClr val="1F4E79"/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87739" y="153951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 Support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658368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title</a:t>
            </a:r>
            <a:endParaRPr lang="en-US" sz="730" dirty="0"/>
          </a:p>
        </p:txBody>
      </p:sp>
      <p:sp>
        <p:nvSpPr>
          <p:cNvPr id="21" name="Shape 19"/>
          <p:cNvSpPr/>
          <p:nvPr/>
        </p:nvSpPr>
        <p:spPr>
          <a:xfrm>
            <a:off x="3377108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50260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hero / full_bleed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6095848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69000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 slide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8814587" y="1839607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739" y="1914629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N/A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658368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</a:t>
            </a:r>
            <a:endParaRPr lang="en-US" sz="730" dirty="0"/>
          </a:p>
        </p:txBody>
      </p:sp>
      <p:sp>
        <p:nvSpPr>
          <p:cNvPr id="29" name="Shape 27"/>
          <p:cNvSpPr/>
          <p:nvPr/>
        </p:nvSpPr>
        <p:spPr>
          <a:xfrm>
            <a:off x="3377108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50260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 / dark</a:t>
            </a:r>
            <a:endParaRPr lang="en-US" sz="710" dirty="0"/>
          </a:p>
        </p:txBody>
      </p:sp>
      <p:sp>
        <p:nvSpPr>
          <p:cNvPr id="31" name="Shape 29"/>
          <p:cNvSpPr/>
          <p:nvPr/>
        </p:nvSpPr>
        <p:spPr>
          <a:xfrm>
            <a:off x="6095848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69000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dividers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8814587" y="2234461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87739" y="230948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N/A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658368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</a:t>
            </a:r>
            <a:endParaRPr lang="en-US" sz="730" dirty="0"/>
          </a:p>
        </p:txBody>
      </p:sp>
      <p:sp>
        <p:nvSpPr>
          <p:cNvPr id="37" name="Shape 35"/>
          <p:cNvSpPr/>
          <p:nvPr/>
        </p:nvSpPr>
        <p:spPr>
          <a:xfrm>
            <a:off x="3377108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50260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/ key_message / cards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6095848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69000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+ bullets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8814587" y="2629316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887739" y="2704338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10" dirty="0"/>
          </a:p>
        </p:txBody>
      </p:sp>
      <p:sp>
        <p:nvSpPr>
          <p:cNvPr id="43" name="Shape 41"/>
          <p:cNvSpPr/>
          <p:nvPr/>
        </p:nvSpPr>
        <p:spPr>
          <a:xfrm>
            <a:off x="658368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two_column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3377108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50260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47" name="Shape 45"/>
          <p:cNvSpPr/>
          <p:nvPr/>
        </p:nvSpPr>
        <p:spPr>
          <a:xfrm>
            <a:off x="6095848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69000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Side-by-side info</a:t>
            </a:r>
            <a:endParaRPr lang="en-US" sz="710" dirty="0"/>
          </a:p>
        </p:txBody>
      </p:sp>
      <p:sp>
        <p:nvSpPr>
          <p:cNvPr id="49" name="Shape 47"/>
          <p:cNvSpPr/>
          <p:nvPr/>
        </p:nvSpPr>
        <p:spPr>
          <a:xfrm>
            <a:off x="8814587" y="3024170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87739" y="3099193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10" dirty="0"/>
          </a:p>
        </p:txBody>
      </p:sp>
      <p:sp>
        <p:nvSpPr>
          <p:cNvPr id="51" name="Shape 49"/>
          <p:cNvSpPr/>
          <p:nvPr/>
        </p:nvSpPr>
        <p:spPr>
          <a:xfrm>
            <a:off x="658368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1520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</a:t>
            </a:r>
            <a:endParaRPr lang="en-US" sz="730" dirty="0"/>
          </a:p>
        </p:txBody>
      </p:sp>
      <p:sp>
        <p:nvSpPr>
          <p:cNvPr id="53" name="Shape 51"/>
          <p:cNvSpPr/>
          <p:nvPr/>
        </p:nvSpPr>
        <p:spPr>
          <a:xfrm>
            <a:off x="3377108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450260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two_cards / exec_tradeoff</a:t>
            </a:r>
            <a:endParaRPr lang="en-US" sz="710" dirty="0"/>
          </a:p>
        </p:txBody>
      </p:sp>
      <p:sp>
        <p:nvSpPr>
          <p:cNvPr id="55" name="Shape 53"/>
          <p:cNvSpPr/>
          <p:nvPr/>
        </p:nvSpPr>
        <p:spPr>
          <a:xfrm>
            <a:off x="6095848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69000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vs B decisions</a:t>
            </a:r>
            <a:endParaRPr lang="en-US" sz="710" dirty="0"/>
          </a:p>
        </p:txBody>
      </p:sp>
      <p:sp>
        <p:nvSpPr>
          <p:cNvPr id="57" name="Shape 55"/>
          <p:cNvSpPr/>
          <p:nvPr/>
        </p:nvSpPr>
        <p:spPr>
          <a:xfrm>
            <a:off x="8814587" y="3419025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887739" y="3494047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10" dirty="0"/>
          </a:p>
        </p:txBody>
      </p:sp>
      <p:sp>
        <p:nvSpPr>
          <p:cNvPr id="59" name="Shape 57"/>
          <p:cNvSpPr/>
          <p:nvPr/>
        </p:nvSpPr>
        <p:spPr>
          <a:xfrm>
            <a:off x="658368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1520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big_number</a:t>
            </a:r>
            <a:endParaRPr lang="en-US" sz="730" dirty="0"/>
          </a:p>
        </p:txBody>
      </p:sp>
      <p:sp>
        <p:nvSpPr>
          <p:cNvPr id="61" name="Shape 59"/>
          <p:cNvSpPr/>
          <p:nvPr/>
        </p:nvSpPr>
        <p:spPr>
          <a:xfrm>
            <a:off x="3377108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450260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63" name="Shape 61"/>
          <p:cNvSpPr/>
          <p:nvPr/>
        </p:nvSpPr>
        <p:spPr>
          <a:xfrm>
            <a:off x="6095848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69000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highlight</a:t>
            </a:r>
            <a:endParaRPr lang="en-US" sz="710" dirty="0"/>
          </a:p>
        </p:txBody>
      </p:sp>
      <p:sp>
        <p:nvSpPr>
          <p:cNvPr id="65" name="Shape 63"/>
          <p:cNvSpPr/>
          <p:nvPr/>
        </p:nvSpPr>
        <p:spPr>
          <a:xfrm>
            <a:off x="8814587" y="3813879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87739" y="3888902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1+side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658368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1520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metric_grid</a:t>
            </a:r>
            <a:endParaRPr lang="en-US" sz="730" dirty="0"/>
          </a:p>
        </p:txBody>
      </p:sp>
      <p:sp>
        <p:nvSpPr>
          <p:cNvPr id="69" name="Shape 67"/>
          <p:cNvSpPr/>
          <p:nvPr/>
        </p:nvSpPr>
        <p:spPr>
          <a:xfrm>
            <a:off x="3377108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450260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71" name="Shape 69"/>
          <p:cNvSpPr/>
          <p:nvPr/>
        </p:nvSpPr>
        <p:spPr>
          <a:xfrm>
            <a:off x="6095848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69000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4-up KPIs</a:t>
            </a:r>
            <a:endParaRPr lang="en-US" sz="710" dirty="0"/>
          </a:p>
        </p:txBody>
      </p:sp>
      <p:sp>
        <p:nvSpPr>
          <p:cNvPr id="73" name="Shape 71"/>
          <p:cNvSpPr/>
          <p:nvPr/>
        </p:nvSpPr>
        <p:spPr>
          <a:xfrm>
            <a:off x="8814587" y="4208734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87739" y="4283756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 to 4</a:t>
            </a:r>
            <a:endParaRPr lang="en-US" sz="710" dirty="0"/>
          </a:p>
        </p:txBody>
      </p:sp>
      <p:sp>
        <p:nvSpPr>
          <p:cNvPr id="75" name="Shape 73"/>
          <p:cNvSpPr/>
          <p:nvPr/>
        </p:nvSpPr>
        <p:spPr>
          <a:xfrm>
            <a:off x="658368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31520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bar_chart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377108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450260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79" name="Shape 77"/>
          <p:cNvSpPr/>
          <p:nvPr/>
        </p:nvSpPr>
        <p:spPr>
          <a:xfrm>
            <a:off x="6095848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69000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data</a:t>
            </a:r>
            <a:endParaRPr lang="en-US" sz="710" dirty="0"/>
          </a:p>
        </p:txBody>
      </p:sp>
      <p:sp>
        <p:nvSpPr>
          <p:cNvPr id="81" name="Shape 79"/>
          <p:cNvSpPr/>
          <p:nvPr/>
        </p:nvSpPr>
        <p:spPr>
          <a:xfrm>
            <a:off x="8814587" y="4603588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87739" y="4678611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1+side</a:t>
            </a:r>
            <a:endParaRPr lang="en-US" sz="710" dirty="0"/>
          </a:p>
        </p:txBody>
      </p:sp>
      <p:sp>
        <p:nvSpPr>
          <p:cNvPr id="83" name="Shape 81"/>
          <p:cNvSpPr/>
          <p:nvPr/>
        </p:nvSpPr>
        <p:spPr>
          <a:xfrm>
            <a:off x="658368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1520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line_chart</a:t>
            </a:r>
            <a:endParaRPr lang="en-US" sz="730" dirty="0"/>
          </a:p>
        </p:txBody>
      </p:sp>
      <p:sp>
        <p:nvSpPr>
          <p:cNvPr id="85" name="Shape 83"/>
          <p:cNvSpPr/>
          <p:nvPr/>
        </p:nvSpPr>
        <p:spPr>
          <a:xfrm>
            <a:off x="3377108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450260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87" name="Shape 85"/>
          <p:cNvSpPr/>
          <p:nvPr/>
        </p:nvSpPr>
        <p:spPr>
          <a:xfrm>
            <a:off x="6095848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169000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 data</a:t>
            </a:r>
            <a:endParaRPr lang="en-US" sz="710" dirty="0"/>
          </a:p>
        </p:txBody>
      </p:sp>
      <p:sp>
        <p:nvSpPr>
          <p:cNvPr id="89" name="Shape 87"/>
          <p:cNvSpPr/>
          <p:nvPr/>
        </p:nvSpPr>
        <p:spPr>
          <a:xfrm>
            <a:off x="8814587" y="4998443"/>
            <a:ext cx="2718740" cy="394855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87739" y="5073465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10" dirty="0"/>
          </a:p>
        </p:txBody>
      </p:sp>
      <p:sp>
        <p:nvSpPr>
          <p:cNvPr id="91" name="Shape 89"/>
          <p:cNvSpPr/>
          <p:nvPr/>
        </p:nvSpPr>
        <p:spPr>
          <a:xfrm>
            <a:off x="658368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31520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3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</a:t>
            </a:r>
            <a:endParaRPr lang="en-US" sz="730" dirty="0"/>
          </a:p>
        </p:txBody>
      </p:sp>
      <p:sp>
        <p:nvSpPr>
          <p:cNvPr id="93" name="Shape 91"/>
          <p:cNvSpPr/>
          <p:nvPr/>
        </p:nvSpPr>
        <p:spPr>
          <a:xfrm>
            <a:off x="3377108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450260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</a:t>
            </a:r>
            <a:endParaRPr lang="en-US" sz="710" dirty="0"/>
          </a:p>
        </p:txBody>
      </p:sp>
      <p:sp>
        <p:nvSpPr>
          <p:cNvPr id="95" name="Shape 93"/>
          <p:cNvSpPr/>
          <p:nvPr/>
        </p:nvSpPr>
        <p:spPr>
          <a:xfrm>
            <a:off x="6095848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169000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Step-by-step flows</a:t>
            </a:r>
            <a:endParaRPr lang="en-US" sz="710" dirty="0"/>
          </a:p>
        </p:txBody>
      </p:sp>
      <p:sp>
        <p:nvSpPr>
          <p:cNvPr id="97" name="Shape 95"/>
          <p:cNvSpPr/>
          <p:nvPr/>
        </p:nvSpPr>
        <p:spPr>
          <a:xfrm>
            <a:off x="8814587" y="5393297"/>
            <a:ext cx="2718740" cy="394855"/>
          </a:xfrm>
          <a:prstGeom prst="rect">
            <a:avLst/>
          </a:prstGeom>
          <a:solidFill>
            <a:srgbClr val="EEF3F8"/>
          </a:solidFill>
          <a:ln w="12700">
            <a:solidFill>
              <a:srgbClr val="DDE6F0">
                <a:alpha val="80000"/>
              </a:srgbClr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87739" y="5468320"/>
            <a:ext cx="2572436" cy="2851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710" dirty="0"/>
          </a:p>
        </p:txBody>
      </p:sp>
      <p:sp>
        <p:nvSpPr>
          <p:cNvPr id="99" name="Text 97"/>
          <p:cNvSpPr/>
          <p:nvPr/>
        </p:nvSpPr>
        <p:spPr>
          <a:xfrm>
            <a:off x="658368" y="574243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rows not displayed by this slide layout.</a:t>
            </a:r>
            <a:endParaRPr lang="en-US" sz="74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01000" y="-1627632"/>
            <a:ext cx="5303520" cy="530352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609344"/>
            <a:ext cx="105156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93852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5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76656" y="2340864"/>
            <a:ext cx="89154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Quotes &amp; Closing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94944" y="3730752"/>
            <a:ext cx="80010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Testimonial and call-to-action slides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658368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dirty="0">
                <a:solidFill>
                  <a:srgbClr val="F2B3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1207008" y="1444752"/>
            <a:ext cx="9509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best presentation is one where the content drives the design — not the other way around.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243584" y="42245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90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Headless Builder Design Principle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03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-1234440"/>
            <a:ext cx="4663440" cy="4663440"/>
          </a:xfrm>
          <a:prstGeom prst="arc">
            <a:avLst/>
          </a:prstGeom>
          <a:solidFill>
            <a:srgbClr val="1F4E79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77240"/>
            <a:ext cx="9326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Get Started Today</a:t>
            </a:r>
            <a:endParaRPr lang="en-US" sz="3500" dirty="0"/>
          </a:p>
        </p:txBody>
      </p:sp>
      <p:sp>
        <p:nvSpPr>
          <p:cNvPr id="6" name="Shape 4"/>
          <p:cNvSpPr/>
          <p:nvPr/>
        </p:nvSpPr>
        <p:spPr>
          <a:xfrm>
            <a:off x="658368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77824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Clone the repo and run npm install</a:t>
            </a:r>
            <a:endParaRPr lang="en-US" sz="1420" dirty="0"/>
          </a:p>
        </p:txBody>
      </p:sp>
      <p:sp>
        <p:nvSpPr>
          <p:cNvPr id="9" name="Shape 7"/>
          <p:cNvSpPr/>
          <p:nvPr/>
        </p:nvSpPr>
        <p:spPr>
          <a:xfrm>
            <a:off x="3511296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30752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30752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input/content.json with your content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6364224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0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83680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npm run build:demo to generate your deck</a:t>
            </a:r>
            <a:endParaRPr lang="en-US" sz="1420" dirty="0"/>
          </a:p>
        </p:txBody>
      </p:sp>
      <p:sp>
        <p:nvSpPr>
          <p:cNvPr id="15" name="Shape 13"/>
          <p:cNvSpPr/>
          <p:nvPr/>
        </p:nvSpPr>
        <p:spPr>
          <a:xfrm>
            <a:off x="9217152" y="1901952"/>
            <a:ext cx="2651760" cy="20574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436608" y="21305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B3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436608" y="2560320"/>
            <a:ext cx="221284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contact_sheet.pdf for a quick visual check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298448"/>
            <a:ext cx="10881360" cy="446227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16276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1316736" y="162763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PptxGenJS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184648" y="1627632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https://gitbrent.github.io/PptxGenJS/ - Open-source Node.js PowerPoint library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78408" y="201168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1316736" y="201168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Builder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5184648" y="2011680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github.com/lfx3142000/headless-slide-builder-js - JSON-driven, AI-assisted deck generation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Headless Slide Builder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Headless Slide Builder — Full Feature Demo</dc:title>
  <dc:subject>Every layout type showcased in one comprehensive deck</dc:subject>
  <dc:creator>Demo User</dc:creator>
  <cp:lastModifiedBy>Demo User</cp:lastModifiedBy>
  <cp:revision>1</cp:revision>
  <dcterms:created xsi:type="dcterms:W3CDTF">2026-05-15T03:29:31Z</dcterms:created>
  <dcterms:modified xsi:type="dcterms:W3CDTF">2026-05-15T03:29:31Z</dcterms:modified>
</cp:coreProperties>
</file>