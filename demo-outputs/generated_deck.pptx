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acknowledge source material and technical references used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-960120"/>
            <a:ext cx="3657600" cy="3657600"/>
          </a:xfrm>
          <a:prstGeom prst="arc">
            <a:avLst/>
          </a:prstGeom>
          <a:solidFill>
            <a:srgbClr val="4F8FCF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78992" y="5230368"/>
            <a:ext cx="2606040" cy="2606040"/>
          </a:xfrm>
          <a:prstGeom prst="arc">
            <a:avLst/>
          </a:prstGeom>
          <a:solidFill>
            <a:srgbClr val="F2B366">
              <a:alpha val="2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74980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JS SLIDE BUILDER V10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94944" y="1298448"/>
            <a:ext cx="5349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Feature Demo</a:t>
            </a:r>
            <a:endParaRPr lang="en-US" sz="4700" dirty="0"/>
          </a:p>
        </p:txBody>
      </p:sp>
      <p:sp>
        <p:nvSpPr>
          <p:cNvPr id="8" name="Shape 6"/>
          <p:cNvSpPr/>
          <p:nvPr/>
        </p:nvSpPr>
        <p:spPr>
          <a:xfrm>
            <a:off x="713232" y="3054096"/>
            <a:ext cx="86868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2918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>
                    <a:alpha val="94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Showcasing every slide layout: titles, content, metrics, charts, timelines, tables, quotes, and more.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61447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>
                    <a:alpha val="8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User  •  2026-05-14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&amp; Bullet Layouts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slides with text, bullets, and key messages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CONTENT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Bullet Slide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08176"/>
            <a:ext cx="10874959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" y="1719072"/>
            <a:ext cx="640080" cy="4572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75104"/>
            <a:ext cx="10106863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default layout renders a clean card with an eyebrow, title, and bullet list.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1161288" y="2916936"/>
            <a:ext cx="9869119" cy="2670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up to 6 bullets per card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Auto-sizes font to fit content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Theme colors applied to accent bar and typography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Speaker notes stored separately in Markdown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KEY_MESSAGE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Message Layout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08176"/>
            <a:ext cx="3886200" cy="4370832"/>
          </a:xfrm>
          <a:prstGeom prst="roundRect">
            <a:avLst>
              <a:gd name="adj" fmla="val 3765"/>
            </a:avLst>
          </a:prstGeom>
          <a:solidFill>
            <a:srgbClr val="1F4E79"/>
          </a:solidFill>
          <a:ln w="8890">
            <a:solidFill>
              <a:srgbClr val="1F4E79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42416" y="1911096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bold left-panel statement drives the point home.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060704" y="4315968"/>
            <a:ext cx="749808" cy="54864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00784"/>
            <a:ext cx="6217920" cy="342900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High-contrast primary color card on the left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Supporting evidence bullets on the right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Ideal for executive summaries and punchy insights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NUMBERED_INSIGHTS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Numbered Insights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08176"/>
            <a:ext cx="10874959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196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1929384"/>
            <a:ext cx="530352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783080"/>
            <a:ext cx="8887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tokens drive every color and font decision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551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2660904"/>
            <a:ext cx="530352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2514600"/>
            <a:ext cx="8887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guidelines encoded in theme.json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28269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45920" y="3392424"/>
            <a:ext cx="530352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246120"/>
            <a:ext cx="8887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JSON separates data from presentation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014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123944"/>
            <a:ext cx="530352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3977640"/>
            <a:ext cx="8887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planner assigns layout variants automatically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7457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5920" y="4855464"/>
            <a:ext cx="530352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4709160"/>
            <a:ext cx="8887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report flags mismatches and missing data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CARDS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Grid Layout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08176"/>
            <a:ext cx="2526716" cy="4334256"/>
          </a:xfrm>
          <a:prstGeom prst="roundRect">
            <a:avLst>
              <a:gd name="adj" fmla="val 57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700784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89115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267712"/>
            <a:ext cx="530352" cy="4572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51176"/>
            <a:ext cx="20146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bullet becomes its own card</a:t>
            </a:r>
            <a:endParaRPr lang="en-US" sz="1530" dirty="0"/>
          </a:p>
        </p:txBody>
      </p:sp>
      <p:sp>
        <p:nvSpPr>
          <p:cNvPr id="16" name="Shape 14"/>
          <p:cNvSpPr/>
          <p:nvPr/>
        </p:nvSpPr>
        <p:spPr>
          <a:xfrm>
            <a:off x="3441116" y="1408176"/>
            <a:ext cx="2526716" cy="4334256"/>
          </a:xfrm>
          <a:prstGeom prst="roundRect">
            <a:avLst>
              <a:gd name="adj" fmla="val 57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97148" y="1700784"/>
            <a:ext cx="384048" cy="384048"/>
          </a:xfrm>
          <a:prstGeom prst="ellipse">
            <a:avLst/>
          </a:prstGeom>
          <a:solidFill>
            <a:srgbClr val="4F8FCF"/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7148" y="1789115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97148" y="2267712"/>
            <a:ext cx="530352" cy="4572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7148" y="2551176"/>
            <a:ext cx="20146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 cards per row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6223864" y="1408176"/>
            <a:ext cx="2526716" cy="4334256"/>
          </a:xfrm>
          <a:prstGeom prst="roundRect">
            <a:avLst>
              <a:gd name="adj" fmla="val 57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9896" y="1700784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9896" y="1789115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79896" y="2267712"/>
            <a:ext cx="530352" cy="4572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9896" y="2551176"/>
            <a:ext cx="20146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Icon badge support per card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9006611" y="1408176"/>
            <a:ext cx="2526716" cy="4334256"/>
          </a:xfrm>
          <a:prstGeom prst="roundRect">
            <a:avLst>
              <a:gd name="adj" fmla="val 57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62643" y="1700784"/>
            <a:ext cx="384048" cy="384048"/>
          </a:xfrm>
          <a:prstGeom prst="ellipse">
            <a:avLst/>
          </a:prstGeom>
          <a:solidFill>
            <a:srgbClr val="4F8FCF"/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643" y="1789115"/>
            <a:ext cx="384048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62643" y="2267712"/>
            <a:ext cx="530352" cy="4572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643" y="2551176"/>
            <a:ext cx="20146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equal-width distribution</a:t>
            </a:r>
            <a:endParaRPr lang="en-US" sz="15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Two-Column &amp; Comparison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layouts for structured comparison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TWO_COLUMN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Two-Column Layout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44752"/>
            <a:ext cx="5230368" cy="4352544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" y="1792224"/>
            <a:ext cx="566928" cy="5029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01168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051560" y="2578608"/>
            <a:ext cx="4443984" cy="27889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Pure JSON input — no GUI needed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Version-controlled presentation source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CI/CD automated generation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302959" y="1444752"/>
            <a:ext cx="5230368" cy="4352544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13855" y="1792224"/>
            <a:ext cx="566928" cy="50292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3855" y="2011680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4F8FC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Cases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696151" y="2578608"/>
            <a:ext cx="4443984" cy="27889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Sales decks from CRM data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Compliance reports from audit logs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 materials from LMS exports</a:t>
            </a:r>
            <a:endParaRPr lang="en-US" sz="13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COMPARISON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Headless Builder vs Manual Design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63040"/>
            <a:ext cx="5248656" cy="431596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1463040"/>
            <a:ext cx="5248656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99339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Headless Builder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950976" y="2523744"/>
            <a:ext cx="4663440" cy="0"/>
          </a:xfrm>
          <a:prstGeom prst="line">
            <a:avLst/>
          </a:prstGeom>
          <a:noFill/>
          <a:ln w="10160">
            <a:solidFill>
              <a:srgbClr val="DD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816352"/>
            <a:ext cx="4425696" cy="25786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Minutes to generate a 20-slide deck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Consistent brand compliance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 design software required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Fully automatable via CI/CD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6318504" y="1463040"/>
            <a:ext cx="5248656" cy="431596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18504" y="1463040"/>
            <a:ext cx="5248656" cy="164592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93392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4F8FC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Design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6611112" y="2523744"/>
            <a:ext cx="4663440" cy="0"/>
          </a:xfrm>
          <a:prstGeom prst="line">
            <a:avLst/>
          </a:prstGeom>
          <a:noFill/>
          <a:ln w="10160">
            <a:solidFill>
              <a:srgbClr val="DD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2816352"/>
            <a:ext cx="4425696" cy="25786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Hours of manual slide work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Brand drift between authors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Requires PowerPoint or Keynote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to automate at scale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5687568" y="3072384"/>
            <a:ext cx="749808" cy="749808"/>
          </a:xfrm>
          <a:prstGeom prst="ellipse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330098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&amp; Data Slides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Numbers, charts, and risk visualization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BIG_NUMBER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Performance Indicator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36192"/>
            <a:ext cx="3749040" cy="3977640"/>
          </a:xfrm>
          <a:prstGeom prst="roundRect">
            <a:avLst>
              <a:gd name="adj" fmla="val 3902"/>
            </a:avLst>
          </a:prstGeom>
          <a:solidFill>
            <a:srgbClr val="1F4E79"/>
          </a:solidFill>
          <a:ln w="8890">
            <a:solidFill>
              <a:srgbClr val="1F4E79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8408" y="210312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78408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Accuracy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82496"/>
            <a:ext cx="73152" cy="361188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37360"/>
            <a:ext cx="5852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content accuracy vs manually authored decks in A/B testing.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30368" y="2880360"/>
            <a:ext cx="5577840" cy="21945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Tested across 500 decks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 by design-token compliance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Brand guideline adherence scored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METRIC_GRID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at a Glance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63040"/>
            <a:ext cx="25472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9536" y="1719072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15+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77824" y="2331720"/>
            <a:ext cx="2108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Types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434258" y="1463040"/>
            <a:ext cx="25472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5426" y="1719072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F8FC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&lt;2s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653714" y="2331720"/>
            <a:ext cx="2108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Time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10148" y="1463040"/>
            <a:ext cx="25472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1316" y="1719072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429604" y="2331720"/>
            <a:ext cx="2108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JSON-Driven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986037" y="1463040"/>
            <a:ext cx="25472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7205" y="1719072"/>
            <a:ext cx="21449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05493" y="2331720"/>
            <a:ext cx="21083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</a:t>
            </a:r>
            <a:endParaRPr lang="en-US" sz="11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BAR_CHART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Types Usage Distribution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736092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61288" y="1984248"/>
            <a:ext cx="704088" cy="2926080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88136" y="172821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1975104" y="3986303"/>
            <a:ext cx="704088" cy="924025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901952" y="3730271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2788920" y="3524290"/>
            <a:ext cx="704088" cy="138603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715768" y="3268258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3602736" y="3216282"/>
            <a:ext cx="704088" cy="1694046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Two-Col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529584" y="296025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416552" y="2754269"/>
            <a:ext cx="704088" cy="2156059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343400" y="2498237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230368" y="3755296"/>
            <a:ext cx="704088" cy="1155032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5157216" y="349926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044184" y="4140307"/>
            <a:ext cx="704088" cy="770021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5971032" y="3884275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6858000" y="4294311"/>
            <a:ext cx="704088" cy="616017"/>
          </a:xfrm>
          <a:prstGeom prst="rect">
            <a:avLst/>
          </a:prstGeom>
          <a:solidFill>
            <a:srgbClr val="4F8FC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5138928"/>
            <a:ext cx="85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784848" y="4038279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8366760" y="1481328"/>
            <a:ext cx="3154680" cy="4160520"/>
          </a:xfrm>
          <a:prstGeom prst="roundRect">
            <a:avLst>
              <a:gd name="adj" fmla="val 4638"/>
            </a:avLst>
          </a:prstGeom>
          <a:solidFill>
            <a:srgbClr val="EEF3F8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59368" y="1801368"/>
            <a:ext cx="256946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of layout types across a sample of 200 auto-generated decks.</a:t>
            </a:r>
            <a:endParaRPr lang="en-US" sz="1640" dirty="0"/>
          </a:p>
        </p:txBody>
      </p:sp>
      <p:sp>
        <p:nvSpPr>
          <p:cNvPr id="38" name="Text 36"/>
          <p:cNvSpPr/>
          <p:nvPr/>
        </p:nvSpPr>
        <p:spPr>
          <a:xfrm>
            <a:off x="8732520" y="2898648"/>
            <a:ext cx="2468880" cy="23317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Content slides are most common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 and two-column layouts growing</a:t>
            </a:r>
            <a:endParaRPr lang="en-US" sz="11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LINE_CHART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Decks Generated Per Month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10881360" cy="4187952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80160" y="1993392"/>
            <a:ext cx="9802368" cy="0"/>
          </a:xfrm>
          <a:prstGeom prst="line">
            <a:avLst/>
          </a:prstGeom>
          <a:noFill/>
          <a:ln w="6350">
            <a:solidFill>
              <a:srgbClr val="DDE6F0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3008376"/>
            <a:ext cx="9802368" cy="0"/>
          </a:xfrm>
          <a:prstGeom prst="line">
            <a:avLst/>
          </a:prstGeom>
          <a:noFill/>
          <a:ln w="6350">
            <a:solidFill>
              <a:srgbClr val="DDE6F0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4023360"/>
            <a:ext cx="9802368" cy="0"/>
          </a:xfrm>
          <a:prstGeom prst="line">
            <a:avLst/>
          </a:prstGeom>
          <a:noFill/>
          <a:ln w="6350">
            <a:solidFill>
              <a:srgbClr val="DDE6F0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5038344"/>
            <a:ext cx="9802368" cy="0"/>
          </a:xfrm>
          <a:prstGeom prst="line">
            <a:avLst/>
          </a:prstGeom>
          <a:noFill/>
          <a:ln w="6350">
            <a:solidFill>
              <a:srgbClr val="DDE6F0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6152" y="4480560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1280160" y="4544568"/>
            <a:ext cx="1633728" cy="-288036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49880" y="4192524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3848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913888" y="4256532"/>
            <a:ext cx="1633728" cy="-370332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3608" y="3822192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7576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547616" y="3886200"/>
            <a:ext cx="1633728" cy="-288036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7336" y="3534156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61304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181344" y="3598164"/>
            <a:ext cx="1633728" cy="-699516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51064" y="2834640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5032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815072" y="2898648"/>
            <a:ext cx="1633728" cy="-370332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84792" y="2464308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28760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9448800" y="2528316"/>
            <a:ext cx="1633728" cy="-534924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18520" y="1929384"/>
            <a:ext cx="128016" cy="128016"/>
          </a:xfrm>
          <a:prstGeom prst="ellipse">
            <a:avLst/>
          </a:prstGeom>
          <a:solidFill>
            <a:srgbClr val="F2B36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62488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</a:t>
            </a:r>
            <a:endParaRPr lang="en-US" sz="7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4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Process, Timeline &amp; Tables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data and workflow visualization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PROCESS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Builder Works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121408"/>
            <a:ext cx="0" cy="486156"/>
          </a:xfrm>
          <a:prstGeom prst="line">
            <a:avLst/>
          </a:prstGeom>
          <a:noFill/>
          <a:ln w="13970">
            <a:solidFill>
              <a:srgbClr val="C8D3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591056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4193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1536192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9072" y="1719072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 content.json with slide data and metadata</a:t>
            </a:r>
            <a:endParaRPr lang="en-US" sz="1390" dirty="0"/>
          </a:p>
        </p:txBody>
      </p:sp>
      <p:sp>
        <p:nvSpPr>
          <p:cNvPr id="16" name="Shape 14"/>
          <p:cNvSpPr/>
          <p:nvPr/>
        </p:nvSpPr>
        <p:spPr>
          <a:xfrm>
            <a:off x="941832" y="2863596"/>
            <a:ext cx="0" cy="486156"/>
          </a:xfrm>
          <a:prstGeom prst="line">
            <a:avLst/>
          </a:prstGeom>
          <a:noFill/>
          <a:ln w="13970">
            <a:solidFill>
              <a:srgbClr val="C8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333244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48412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2278380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19072" y="2461260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theme.json with brand colors, fonts, and design tokens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941832" y="3605784"/>
            <a:ext cx="0" cy="486156"/>
          </a:xfrm>
          <a:prstGeom prst="line">
            <a:avLst/>
          </a:prstGeom>
          <a:noFill/>
          <a:ln w="13970">
            <a:solidFill>
              <a:srgbClr val="C8D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075432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22630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63040" y="3020568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19072" y="3203448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planner assigns layout variants and design decisions</a:t>
            </a:r>
            <a:endParaRPr lang="en-US" sz="1390" dirty="0"/>
          </a:p>
        </p:txBody>
      </p:sp>
      <p:sp>
        <p:nvSpPr>
          <p:cNvPr id="26" name="Shape 24"/>
          <p:cNvSpPr/>
          <p:nvPr/>
        </p:nvSpPr>
        <p:spPr>
          <a:xfrm>
            <a:off x="941832" y="4347972"/>
            <a:ext cx="0" cy="486156"/>
          </a:xfrm>
          <a:prstGeom prst="line">
            <a:avLst/>
          </a:prstGeom>
          <a:noFill/>
          <a:ln w="13970">
            <a:solidFill>
              <a:srgbClr val="C8D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81762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96849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63040" y="3762756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19072" y="3945636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Renderer builds PPTX slide-by-slide using pptxgenjs</a:t>
            </a:r>
            <a:endParaRPr lang="en-US" sz="1390" dirty="0"/>
          </a:p>
        </p:txBody>
      </p:sp>
      <p:sp>
        <p:nvSpPr>
          <p:cNvPr id="31" name="Shape 29"/>
          <p:cNvSpPr/>
          <p:nvPr/>
        </p:nvSpPr>
        <p:spPr>
          <a:xfrm>
            <a:off x="941832" y="5090160"/>
            <a:ext cx="0" cy="486156"/>
          </a:xfrm>
          <a:prstGeom prst="line">
            <a:avLst/>
          </a:prstGeom>
          <a:noFill/>
          <a:ln w="13970">
            <a:solidFill>
              <a:srgbClr val="C8D3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455980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71068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63040" y="4504944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719072" y="4687824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report and speaker notes exported automatically</a:t>
            </a:r>
            <a:endParaRPr lang="en-US" sz="1390" dirty="0"/>
          </a:p>
        </p:txBody>
      </p:sp>
      <p:sp>
        <p:nvSpPr>
          <p:cNvPr id="36" name="Shape 34"/>
          <p:cNvSpPr/>
          <p:nvPr/>
        </p:nvSpPr>
        <p:spPr>
          <a:xfrm>
            <a:off x="658368" y="5301996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45287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5247132"/>
            <a:ext cx="10070287" cy="650748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719072" y="5430012"/>
            <a:ext cx="9576511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LibreOffice renders preview PNGs and contact sheet PDF</a:t>
            </a:r>
            <a:endParaRPr lang="en-US" sz="13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TIMELINE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Roadmap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880360"/>
            <a:ext cx="10600639" cy="0"/>
          </a:xfrm>
          <a:prstGeom prst="line">
            <a:avLst/>
          </a:prstGeom>
          <a:noFill/>
          <a:ln w="254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6700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79192"/>
            <a:ext cx="0" cy="-347472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" y="1572768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EF3F8"/>
          </a:solidFill>
          <a:ln w="12700">
            <a:solidFill>
              <a:srgbClr val="DDE6F0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6230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2026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-164592" y="1938528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engine + basic layouts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235376" y="2670048"/>
            <a:ext cx="420624" cy="420624"/>
          </a:xfrm>
          <a:prstGeom prst="ellipse">
            <a:avLst/>
          </a:prstGeom>
          <a:solidFill>
            <a:srgbClr val="4F8F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5688" y="3081528"/>
            <a:ext cx="0" cy="347472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69616" y="3364992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EF3F8"/>
          </a:solidFill>
          <a:ln w="12700">
            <a:solidFill>
              <a:srgbClr val="DDE6F0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2768" y="34152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2026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2485568" y="3730752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tokens + brand support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885536" y="26700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2679192"/>
            <a:ext cx="0" cy="-347472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19776" y="1572768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EF3F8"/>
          </a:solidFill>
          <a:ln w="12700">
            <a:solidFill>
              <a:srgbClr val="DDE6F0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2928" y="16230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2026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5135728" y="1938528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planner + quality reports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535695" y="2670048"/>
            <a:ext cx="420624" cy="420624"/>
          </a:xfrm>
          <a:prstGeom prst="ellipse">
            <a:avLst/>
          </a:prstGeom>
          <a:solidFill>
            <a:srgbClr val="4F8FC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6007" y="3081528"/>
            <a:ext cx="0" cy="347472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69935" y="3364992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EF3F8"/>
          </a:solidFill>
          <a:ln w="12700">
            <a:solidFill>
              <a:srgbClr val="DDE6F0">
                <a:alpha val="8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3087" y="34152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785887" y="3730752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rendering + contact sheet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1185855" y="267004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396167" y="2679192"/>
            <a:ext cx="0" cy="-347472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20095" y="1572768"/>
            <a:ext cx="1152144" cy="237744"/>
          </a:xfrm>
          <a:prstGeom prst="roundRect">
            <a:avLst>
              <a:gd name="adj" fmla="val 30769"/>
            </a:avLst>
          </a:prstGeom>
          <a:solidFill>
            <a:srgbClr val="EEF3F8"/>
          </a:solidFill>
          <a:ln w="12700">
            <a:solidFill>
              <a:srgbClr val="DDE6F0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93247" y="16230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10436047" y="1938528"/>
            <a:ext cx="1920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API + multi-tenant support</a:t>
            </a:r>
            <a:endParaRPr lang="en-US" sz="10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TABLE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Supported Slide Types Reference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44752"/>
            <a:ext cx="2718740" cy="394855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53951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3377108" y="1444752"/>
            <a:ext cx="2718740" cy="394855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0260" y="153951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6095848" y="1444752"/>
            <a:ext cx="2718740" cy="394855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9000" y="153951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8814587" y="1444752"/>
            <a:ext cx="2718740" cy="394855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739" y="153951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Support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658368" y="1839607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914629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3377108" y="1839607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0260" y="1914629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/ full_bleed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6095848" y="1839607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9000" y="1914629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slide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8814587" y="1839607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87739" y="1914629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658368" y="2234461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30948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3377108" y="2234461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0260" y="230948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/ dark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6095848" y="2234461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9000" y="230948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dividers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814587" y="2234461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739" y="230948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58368" y="2629316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704338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3377108" y="2629316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0260" y="2704338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/ key_message / cards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6095848" y="2629316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9000" y="2704338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+ bullets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8814587" y="2629316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739" y="2704338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658368" y="3024170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09919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two_column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3377108" y="3024170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0260" y="309919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6095848" y="3024170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69000" y="309919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Side-by-side info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8814587" y="3024170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87739" y="3099193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658368" y="3419025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349404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3377108" y="3419025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0260" y="349404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two_cards / exec_tradeoff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6095848" y="3419025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9000" y="349404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vs B decisions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8814587" y="3419025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87739" y="3494047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658368" y="3813879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3888902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big_number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3377108" y="3813879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50260" y="3888902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63" name="Shape 61"/>
          <p:cNvSpPr/>
          <p:nvPr/>
        </p:nvSpPr>
        <p:spPr>
          <a:xfrm>
            <a:off x="6095848" y="3813879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69000" y="3888902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8814587" y="3813879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87739" y="3888902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1+side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658368" y="4208734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4283756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metric_grid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3377108" y="4208734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50260" y="4283756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71" name="Shape 69"/>
          <p:cNvSpPr/>
          <p:nvPr/>
        </p:nvSpPr>
        <p:spPr>
          <a:xfrm>
            <a:off x="6095848" y="4208734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69000" y="4283756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4-up KPIs</a:t>
            </a:r>
            <a:endParaRPr lang="en-US" sz="710" dirty="0"/>
          </a:p>
        </p:txBody>
      </p:sp>
      <p:sp>
        <p:nvSpPr>
          <p:cNvPr id="73" name="Shape 71"/>
          <p:cNvSpPr/>
          <p:nvPr/>
        </p:nvSpPr>
        <p:spPr>
          <a:xfrm>
            <a:off x="8814587" y="4208734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87739" y="4283756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4</a:t>
            </a:r>
            <a:endParaRPr lang="en-US" sz="710" dirty="0"/>
          </a:p>
        </p:txBody>
      </p:sp>
      <p:sp>
        <p:nvSpPr>
          <p:cNvPr id="75" name="Shape 73"/>
          <p:cNvSpPr/>
          <p:nvPr/>
        </p:nvSpPr>
        <p:spPr>
          <a:xfrm>
            <a:off x="658368" y="4603588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" y="4678611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bar_chart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3377108" y="4603588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50260" y="4678611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6095848" y="4603588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69000" y="4678611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data</a:t>
            </a:r>
            <a:endParaRPr lang="en-US" sz="710" dirty="0"/>
          </a:p>
        </p:txBody>
      </p:sp>
      <p:sp>
        <p:nvSpPr>
          <p:cNvPr id="81" name="Shape 79"/>
          <p:cNvSpPr/>
          <p:nvPr/>
        </p:nvSpPr>
        <p:spPr>
          <a:xfrm>
            <a:off x="8814587" y="4603588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87739" y="4678611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1+side</a:t>
            </a:r>
            <a:endParaRPr lang="en-US" sz="710" dirty="0"/>
          </a:p>
        </p:txBody>
      </p:sp>
      <p:sp>
        <p:nvSpPr>
          <p:cNvPr id="83" name="Shape 81"/>
          <p:cNvSpPr/>
          <p:nvPr/>
        </p:nvSpPr>
        <p:spPr>
          <a:xfrm>
            <a:off x="658368" y="4998443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1520" y="5073465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line_chart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3377108" y="4998443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50260" y="5073465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87" name="Shape 85"/>
          <p:cNvSpPr/>
          <p:nvPr/>
        </p:nvSpPr>
        <p:spPr>
          <a:xfrm>
            <a:off x="6095848" y="4998443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69000" y="5073465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data</a:t>
            </a:r>
            <a:endParaRPr lang="en-US" sz="710" dirty="0"/>
          </a:p>
        </p:txBody>
      </p:sp>
      <p:sp>
        <p:nvSpPr>
          <p:cNvPr id="89" name="Shape 87"/>
          <p:cNvSpPr/>
          <p:nvPr/>
        </p:nvSpPr>
        <p:spPr>
          <a:xfrm>
            <a:off x="8814587" y="4998443"/>
            <a:ext cx="2718740" cy="3948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87739" y="5073465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10" dirty="0"/>
          </a:p>
        </p:txBody>
      </p:sp>
      <p:sp>
        <p:nvSpPr>
          <p:cNvPr id="91" name="Shape 89"/>
          <p:cNvSpPr/>
          <p:nvPr/>
        </p:nvSpPr>
        <p:spPr>
          <a:xfrm>
            <a:off x="658368" y="5393297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5468320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730" dirty="0"/>
          </a:p>
        </p:txBody>
      </p:sp>
      <p:sp>
        <p:nvSpPr>
          <p:cNvPr id="93" name="Shape 91"/>
          <p:cNvSpPr/>
          <p:nvPr/>
        </p:nvSpPr>
        <p:spPr>
          <a:xfrm>
            <a:off x="3377108" y="5393297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50260" y="5468320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710" dirty="0"/>
          </a:p>
        </p:txBody>
      </p:sp>
      <p:sp>
        <p:nvSpPr>
          <p:cNvPr id="95" name="Shape 93"/>
          <p:cNvSpPr/>
          <p:nvPr/>
        </p:nvSpPr>
        <p:spPr>
          <a:xfrm>
            <a:off x="6095848" y="5393297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69000" y="5468320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flows</a:t>
            </a:r>
            <a:endParaRPr lang="en-US" sz="710" dirty="0"/>
          </a:p>
        </p:txBody>
      </p:sp>
      <p:sp>
        <p:nvSpPr>
          <p:cNvPr id="97" name="Shape 95"/>
          <p:cNvSpPr/>
          <p:nvPr/>
        </p:nvSpPr>
        <p:spPr>
          <a:xfrm>
            <a:off x="8814587" y="5393297"/>
            <a:ext cx="2718740" cy="394855"/>
          </a:xfrm>
          <a:prstGeom prst="rect">
            <a:avLst/>
          </a:prstGeom>
          <a:solidFill>
            <a:srgbClr val="EEF3F8"/>
          </a:solidFill>
          <a:ln w="12700">
            <a:solidFill>
              <a:srgbClr val="DDE6F0">
                <a:alpha val="80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87739" y="5468320"/>
            <a:ext cx="2572436" cy="2851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10" dirty="0"/>
          </a:p>
        </p:txBody>
      </p:sp>
      <p:sp>
        <p:nvSpPr>
          <p:cNvPr id="99" name="Text 97"/>
          <p:cNvSpPr/>
          <p:nvPr/>
        </p:nvSpPr>
        <p:spPr>
          <a:xfrm>
            <a:off x="658368" y="57424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rows not displayed by this slide layout.</a:t>
            </a:r>
            <a:endParaRPr lang="en-US" sz="7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5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Quotes &amp; Closing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Testimonial and call-to-action slides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6583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F2B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207008" y="1444752"/>
            <a:ext cx="9509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best presentation is one where the content drives the design — not the other way around.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43584" y="42245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Headless Builder Design Principle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234440"/>
            <a:ext cx="4663440" cy="466344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7724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Started Today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265176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130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" y="2560320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the repo and run npm install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3511296" y="1901952"/>
            <a:ext cx="265176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0752" y="2130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30752" y="2560320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input/content.json with your content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364224" y="1901952"/>
            <a:ext cx="265176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30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npm run build:demo to generate your deck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9217152" y="1901952"/>
            <a:ext cx="2651760" cy="20574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36608" y="2130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3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36608" y="2560320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contact_sheet.pdf for a quick visual check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-1627632"/>
            <a:ext cx="5303520" cy="5303520"/>
          </a:xfrm>
          <a:prstGeom prst="arc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609344"/>
            <a:ext cx="1051560" cy="50292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938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6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76656" y="2340864"/>
            <a:ext cx="8915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Layouts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694944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with photos and visual content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IMAGE_LEFT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Left Layout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5010912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2" name="Image 0" descr="/home/runner/work/headless-slide-builder-js/headless-slide-builder-js/assets/images/test-meeting.png">    </p:cNvPr>
          <p:cNvPicPr>
            <a:picLocks noChangeAspect="1"/>
          </p:cNvPicPr>
          <p:nvPr/>
        </p:nvPicPr>
        <p:blipFill>
          <a:blip r:embed="rId1"/>
          <a:srcRect l="16547" r="16547" t="0" b="0"/>
          <a:stretch/>
        </p:blipFill>
        <p:spPr>
          <a:xfrm>
            <a:off x="694944" y="1453896"/>
            <a:ext cx="4937760" cy="41513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08192" y="1481328"/>
            <a:ext cx="5102352" cy="4041648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28232" y="1810512"/>
            <a:ext cx="658368" cy="47549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55664" y="2084832"/>
            <a:ext cx="44074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an image on the left half with text content on the right.</a:t>
            </a:r>
            <a:endParaRPr lang="en-US" sz="1640" dirty="0"/>
          </a:p>
        </p:txBody>
      </p:sp>
      <p:sp>
        <p:nvSpPr>
          <p:cNvPr id="16" name="Text 13"/>
          <p:cNvSpPr/>
          <p:nvPr/>
        </p:nvSpPr>
        <p:spPr>
          <a:xfrm>
            <a:off x="6528816" y="3273552"/>
            <a:ext cx="4261104" cy="19385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Ideal for product screenshots or diagrams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block floats right of the image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Caption and attribution supported</a:t>
            </a:r>
            <a:endParaRPr lang="en-US" sz="15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IMAGE_RIGHT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Right Layout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1417320"/>
            <a:ext cx="5010912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2" name="Image 0" descr="/home/runner/work/headless-slide-builder-js/headless-slide-builder-js/assets/images/test-workspace.png">    </p:cNvPr>
          <p:cNvPicPr>
            <a:picLocks noChangeAspect="1"/>
          </p:cNvPicPr>
          <p:nvPr/>
        </p:nvPicPr>
        <p:blipFill>
          <a:blip r:embed="rId1"/>
          <a:srcRect l="16547" r="16547" t="0" b="0"/>
          <a:stretch/>
        </p:blipFill>
        <p:spPr>
          <a:xfrm>
            <a:off x="6583680" y="1453896"/>
            <a:ext cx="4937760" cy="41513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8368" y="1481328"/>
            <a:ext cx="5102352" cy="4041648"/>
          </a:xfrm>
          <a:prstGeom prst="roundRect">
            <a:avLst>
              <a:gd name="adj" fmla="val 3620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78408" y="1810512"/>
            <a:ext cx="658368" cy="47549"/>
          </a:xfrm>
          <a:prstGeom prst="rect">
            <a:avLst/>
          </a:prstGeom>
          <a:solidFill>
            <a:srgbClr val="F2B3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084832"/>
            <a:ext cx="440740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content on the left with a supporting image on the right.</a:t>
            </a:r>
            <a:endParaRPr lang="en-US" sz="1640" dirty="0"/>
          </a:p>
        </p:txBody>
      </p:sp>
      <p:sp>
        <p:nvSpPr>
          <p:cNvPr id="16" name="Text 13"/>
          <p:cNvSpPr/>
          <p:nvPr/>
        </p:nvSpPr>
        <p:spPr>
          <a:xfrm>
            <a:off x="1078992" y="3273552"/>
            <a:ext cx="4261104" cy="19385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Great for team photos or context visuals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Maintains brand accent bar on left edge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Auto-crops to fill right panel</a:t>
            </a:r>
            <a:endParaRPr lang="en-US" sz="15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headless-slide-builder-js/headless-slide-builder-js/assets/images/test-hero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>
              <a:alpha val="6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241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2B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FULL_BLEED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713232" y="1417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Bleed Image</a:t>
            </a:r>
            <a:endParaRPr lang="en-US" sz="3500" dirty="0"/>
          </a:p>
        </p:txBody>
      </p:sp>
      <p:sp>
        <p:nvSpPr>
          <p:cNvPr id="7" name="Shape 4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LAYOUT: IMAGE_GRID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Grid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17320"/>
            <a:ext cx="530352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2" name="Image 0" descr="/home/runner/work/headless-slide-builder-js/headless-slide-builder-js/assets/images/test-hero.png">    </p:cNvPr>
          <p:cNvPicPr>
            <a:picLocks noChangeAspect="1"/>
          </p:cNvPicPr>
          <p:nvPr/>
        </p:nvPicPr>
        <p:blipFill>
          <a:blip r:embed="rId1"/>
          <a:srcRect l="0" r="0" t="18519" b="18519"/>
          <a:stretch/>
        </p:blipFill>
        <p:spPr>
          <a:xfrm>
            <a:off x="676656" y="1435608"/>
            <a:ext cx="5266944" cy="18653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36208" y="1417320"/>
            <a:ext cx="530352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4" name="Image 1" descr="/home/runner/work/headless-slide-builder-js/headless-slide-builder-js/assets/images/test-meeting.png">    </p:cNvPr>
          <p:cNvPicPr>
            <a:picLocks noChangeAspect="1"/>
          </p:cNvPicPr>
          <p:nvPr/>
        </p:nvPicPr>
        <p:blipFill>
          <a:blip r:embed="rId2"/>
          <a:srcRect l="0" r="0" t="18519" b="18519"/>
          <a:stretch/>
        </p:blipFill>
        <p:spPr>
          <a:xfrm>
            <a:off x="6254496" y="1435608"/>
            <a:ext cx="5266944" cy="186537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" y="3584448"/>
            <a:ext cx="530352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6" name="Image 2" descr="/home/runner/work/headless-slide-builder-js/headless-slide-builder-js/assets/images/test-workspace.png">    </p:cNvPr>
          <p:cNvPicPr>
            <a:picLocks noChangeAspect="1"/>
          </p:cNvPicPr>
          <p:nvPr/>
        </p:nvPicPr>
        <p:blipFill>
          <a:blip r:embed="rId3"/>
          <a:srcRect l="0" r="0" t="18519" b="18519"/>
          <a:stretch/>
        </p:blipFill>
        <p:spPr>
          <a:xfrm>
            <a:off x="676656" y="3602736"/>
            <a:ext cx="5266944" cy="18653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36208" y="3584448"/>
            <a:ext cx="530352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pic>
        <p:nvPicPr>
          <p:cNvPr id="18" name="Image 3" descr="/home/runner/work/headless-slide-builder-js/headless-slide-builder-js/assets/images/test-data-flow.png">    </p:cNvPr>
          <p:cNvPicPr>
            <a:picLocks noChangeAspect="1"/>
          </p:cNvPicPr>
          <p:nvPr/>
        </p:nvPicPr>
        <p:blipFill>
          <a:blip r:embed="rId4"/>
          <a:srcRect l="0" r="0" t="18519" b="18519"/>
          <a:stretch/>
        </p:blipFill>
        <p:spPr>
          <a:xfrm>
            <a:off x="6254496" y="3602736"/>
            <a:ext cx="5266944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-914400"/>
            <a:ext cx="2926080" cy="2926080"/>
          </a:xfrm>
          <a:prstGeom prst="arc">
            <a:avLst/>
          </a:prstGeom>
          <a:solidFill>
            <a:srgbClr val="4F8FCF">
              <a:alpha val="10000"/>
            </a:srgbClr>
          </a:solidFill>
          <a:ln w="12700">
            <a:solidFill>
              <a:srgbClr val="4F8F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5394960"/>
            <a:ext cx="2148840" cy="2148840"/>
          </a:xfrm>
          <a:prstGeom prst="arc">
            <a:avLst/>
          </a:prstGeom>
          <a:solidFill>
            <a:srgbClr val="F2B366">
              <a:alpha val="9000"/>
            </a:srgbClr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6985">
            <a:solidFill>
              <a:srgbClr val="DDE6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37960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Slide Builder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09199" y="65379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25603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4F8F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512064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658368" y="1120140"/>
            <a:ext cx="676656" cy="39319"/>
          </a:xfrm>
          <a:prstGeom prst="rect">
            <a:avLst/>
          </a:prstGeom>
          <a:solidFill>
            <a:srgbClr val="F2B366"/>
          </a:solidFill>
          <a:ln w="12700">
            <a:solidFill>
              <a:srgbClr val="F2B36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98448"/>
            <a:ext cx="10881360" cy="446227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8890">
            <a:solidFill>
              <a:srgbClr val="DDE6F0"/>
            </a:solidFill>
            <a:prstDash val="solid"/>
          </a:ln>
          <a:effectLst>
            <a:outerShdw sx="100000" sy="100000" kx="0" ky="0" algn="bl" rotWithShape="0" blurRad="13970" dist="50800" dir="2700000">
              <a:srgbClr val="C9D3D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8408" y="16276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316736" y="162763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PptxGenJS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184648" y="1627632"/>
            <a:ext cx="6263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https://gitbrent.github.io/PptxGenJS/ - Open-source Node.js PowerPoint library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8408" y="201168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316736" y="201168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Headless Builder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184648" y="2011680"/>
            <a:ext cx="6263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github.com/lfx3142000/headless-slide-builder-js - JSON-driven, AI-assisted deck generation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Headless Slide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Headless Slide Builder — Full Feature Demo</dc:title>
  <dc:subject>Every layout type showcased in one comprehensive deck</dc:subject>
  <dc:creator>Demo User</dc:creator>
  <cp:lastModifiedBy>Demo User</cp:lastModifiedBy>
  <cp:revision>1</cp:revision>
  <dcterms:created xsi:type="dcterms:W3CDTF">2026-05-22T06:32:15Z</dcterms:created>
  <dcterms:modified xsi:type="dcterms:W3CDTF">2026-05-22T06:32:15Z</dcterms:modified>
</cp:coreProperties>
</file>